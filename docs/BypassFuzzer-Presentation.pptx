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789920" cy="109728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6400" b="1">
                <a:solidFill>
                  <a:srgbClr val="F4A81E"/>
                </a:solidFill>
                <a:latin typeface="Inter"/>
              </a:rPr>
              <a:t>BypassFuzzer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246120"/>
            <a:ext cx="10789920" cy="8229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2800" b="0">
                <a:solidFill>
                  <a:srgbClr val="E5E7EB"/>
                </a:solidFill>
                <a:latin typeface="Inter"/>
              </a:rPr>
              <a:t>Automating AuthZ Bypass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114800"/>
            <a:ext cx="10789920" cy="4572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600" b="0">
                <a:solidFill>
                  <a:srgbClr val="9CA3AF"/>
                </a:solidFill>
                <a:latin typeface="Inter"/>
              </a:rPr>
              <a:t>Burp Suite extension · Bypass · URL Validation · IDOR tabs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760720"/>
            <a:ext cx="10789920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800" b="1">
                <a:solidFill>
                  <a:srgbClr val="E5E7EB"/>
                </a:solidFill>
                <a:latin typeface="Inter"/>
              </a:rPr>
              <a:t>Jonathan Conesa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172200"/>
            <a:ext cx="1078992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Security Consultant  ·  NetSpi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103120"/>
            <a:ext cx="457200" cy="73152"/>
          </a:xfrm>
          <a:prstGeom prst="rect">
            <a:avLst/>
          </a:prstGeom>
          <a:solidFill>
            <a:srgbClr val="F4A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64008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3400" b="1">
                <a:solidFill>
                  <a:srgbClr val="E5E7EB"/>
                </a:solidFill>
                <a:latin typeface="Inter"/>
              </a:rPr>
              <a:t>Built on a decade of public research.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4572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600" b="0">
                <a:solidFill>
                  <a:srgbClr val="9CA3AF"/>
                </a:solidFill>
                <a:latin typeface="Inter"/>
              </a:rPr>
              <a:t>Path and URL parser bugs have been a drumbeat since 2018. Three talks/resources we lean on heavily: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10789920" cy="1234440"/>
          </a:xfrm>
          <a:prstGeom prst="roundRect">
            <a:avLst/>
          </a:prstGeom>
          <a:solidFill>
            <a:srgbClr val="1B1F27"/>
          </a:solidFill>
          <a:ln w="9525">
            <a:solidFill>
              <a:srgbClr val="3035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74519"/>
            <a:ext cx="73152" cy="1234440"/>
          </a:xfrm>
          <a:prstGeom prst="rect">
            <a:avLst/>
          </a:prstGeom>
          <a:solidFill>
            <a:srgbClr val="F4A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65959"/>
            <a:ext cx="10515600" cy="27432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100" b="1">
                <a:solidFill>
                  <a:srgbClr val="F4A81E"/>
                </a:solidFill>
                <a:latin typeface="Inter"/>
              </a:rPr>
              <a:t>BLACK HAT USA 2018 · DEF CON 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94559"/>
            <a:ext cx="10515600" cy="41148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800" b="1">
                <a:solidFill>
                  <a:srgbClr val="E5E7EB"/>
                </a:solidFill>
                <a:latin typeface="Inter"/>
              </a:rPr>
              <a:t>Breaking Parser Logic! Take Your Path Normalization Off and Pop 0days Out!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560319"/>
            <a:ext cx="10515600" cy="27432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Inter"/>
              </a:rPr>
              <a:t>Orange Tsai  ·  @orange_8361  ·  DEVCORE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07207"/>
            <a:ext cx="10515600" cy="27432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000" b="0">
                <a:solidFill>
                  <a:srgbClr val="CBE7FF"/>
                </a:solidFill>
                <a:latin typeface="JetBrains Mono"/>
              </a:rPr>
              <a:t>i.blackhat.com/us-18/Wed-August-8/us-18-Orange-Tsai-Breaking-Parser-Logic-...pdf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246120"/>
            <a:ext cx="10789920" cy="1234440"/>
          </a:xfrm>
          <a:prstGeom prst="roundRect">
            <a:avLst/>
          </a:prstGeom>
          <a:solidFill>
            <a:srgbClr val="1B1F27"/>
          </a:solidFill>
          <a:ln w="9525">
            <a:solidFill>
              <a:srgbClr val="3035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3246120"/>
            <a:ext cx="73152" cy="1234440"/>
          </a:xfrm>
          <a:prstGeom prst="rect">
            <a:avLst/>
          </a:prstGeom>
          <a:solidFill>
            <a:srgbClr val="F4A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337560"/>
            <a:ext cx="10515600" cy="27432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100" b="1">
                <a:solidFill>
                  <a:srgbClr val="F4A81E"/>
                </a:solidFill>
                <a:latin typeface="Inter"/>
              </a:rPr>
              <a:t>ZERONIGHTS 2018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566160"/>
            <a:ext cx="10515600" cy="41148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800" b="1">
                <a:solidFill>
                  <a:srgbClr val="E5E7EB"/>
                </a:solidFill>
                <a:latin typeface="Inter"/>
              </a:rPr>
              <a:t>Reverse Proxies &amp; Inconsistency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931920"/>
            <a:ext cx="10515600" cy="27432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Inter"/>
              </a:rPr>
              <a:t>Aleksei "GreenDog" Tiurin  ·  @antyurin  ·  Acunetix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178808"/>
            <a:ext cx="10515600" cy="27432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000" b="0">
                <a:solidFill>
                  <a:srgbClr val="CBE7FF"/>
                </a:solidFill>
                <a:latin typeface="JetBrains Mono"/>
              </a:rPr>
              <a:t>2018.zeronights.ru/wp-content/uploads/materials/20-Reverse-proxies-Inconsistency.pdf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617720"/>
            <a:ext cx="10789920" cy="1234440"/>
          </a:xfrm>
          <a:prstGeom prst="roundRect">
            <a:avLst/>
          </a:prstGeom>
          <a:solidFill>
            <a:srgbClr val="1B1F27"/>
          </a:solidFill>
          <a:ln w="9525">
            <a:solidFill>
              <a:srgbClr val="3035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4617720"/>
            <a:ext cx="73152" cy="1234440"/>
          </a:xfrm>
          <a:prstGeom prst="rect">
            <a:avLst/>
          </a:prstGeom>
          <a:solidFill>
            <a:srgbClr val="F4A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709160"/>
            <a:ext cx="10515600" cy="27432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100" b="1">
                <a:solidFill>
                  <a:srgbClr val="F4A81E"/>
                </a:solidFill>
                <a:latin typeface="Inter"/>
              </a:rPr>
              <a:t>PORTSWIGGER RESEARCH  (ongoing)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937760"/>
            <a:ext cx="10515600" cy="41148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800" b="1">
                <a:solidFill>
                  <a:srgbClr val="E5E7EB"/>
                </a:solidFill>
                <a:latin typeface="Inter"/>
              </a:rPr>
              <a:t>URL Validation Bypass Cheat Sheet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303520"/>
            <a:ext cx="10515600" cy="27432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Inter"/>
              </a:rPr>
              <a:t>PortSwigger  ·  open community PRs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550408"/>
            <a:ext cx="10515600" cy="27432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000" b="0">
                <a:solidFill>
                  <a:srgbClr val="CBE7FF"/>
                </a:solidFill>
                <a:latin typeface="JetBrains Mono"/>
              </a:rPr>
              <a:t>portswigger.net/web-security/ssrf/url-validation-bypass-cheat-sheet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6126480"/>
            <a:ext cx="10789920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Inter"/>
              </a:rPr>
              <a:t>Plus PoCs and CVE write-ups from Bentkowski, Kettle, Wallarm, and many more.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6263640"/>
            <a:ext cx="365760" cy="36576"/>
          </a:xfrm>
          <a:prstGeom prst="rect">
            <a:avLst/>
          </a:prstGeom>
          <a:solidFill>
            <a:srgbClr val="F4A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64008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3600" b="1">
                <a:solidFill>
                  <a:srgbClr val="E5E7EB"/>
                </a:solidFill>
                <a:latin typeface="Inter"/>
              </a:rPr>
              <a:t>What we're trying to bypass.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4572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800" b="0">
                <a:solidFill>
                  <a:srgbClr val="9CA3AF"/>
                </a:solidFill>
                <a:latin typeface="Inter"/>
              </a:rPr>
              <a:t>Every stack ships a flavor of "block requests to /admin." Teams trust these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965960"/>
            <a:ext cx="3657600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500" b="1">
                <a:solidFill>
                  <a:srgbClr val="F4A81E"/>
                </a:solidFill>
                <a:latin typeface="Inter"/>
              </a:rPr>
              <a:t>Nginx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2331720"/>
            <a:ext cx="3657600" cy="1645920"/>
          </a:xfrm>
          <a:prstGeom prst="roundRect">
            <a:avLst/>
          </a:prstGeom>
          <a:solidFill>
            <a:srgbClr val="1B1F27"/>
          </a:solidFill>
          <a:ln w="9525">
            <a:solidFill>
              <a:srgbClr val="3035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514600"/>
            <a:ext cx="3200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>
                <a:solidFill>
                  <a:srgbClr val="CBE7FF"/>
                </a:solidFill>
                <a:latin typeface="JetBrains Mono"/>
              </a:rPr>
              <a:t>location /admin {</a:t>
            </a:r>
          </a:p>
          <a:p>
            <a:pPr algn="l"/>
            <a:r>
              <a:rPr sz="1400">
                <a:solidFill>
                  <a:srgbClr val="CBE7FF"/>
                </a:solidFill>
                <a:latin typeface="JetBrains Mono"/>
              </a:rPr>
              <a:t>    deny all;</a:t>
            </a:r>
          </a:p>
          <a:p>
            <a:pPr algn="l"/>
            <a:r>
              <a:rPr sz="1400">
                <a:solidFill>
                  <a:srgbClr val="CBE7FF"/>
                </a:solidFill>
                <a:latin typeface="JetBrains Mono"/>
              </a:rPr>
              <a:t>    return 403;</a:t>
            </a:r>
          </a:p>
          <a:p>
            <a:pPr algn="l"/>
            <a:r>
              <a:rPr sz="1400">
                <a:solidFill>
                  <a:srgbClr val="CBE7FF"/>
                </a:solidFill>
                <a:latin typeface="JetBrains Mono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965960"/>
            <a:ext cx="3657600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500" b="1">
                <a:solidFill>
                  <a:srgbClr val="F4A81E"/>
                </a:solidFill>
                <a:latin typeface="Inter"/>
              </a:rPr>
              <a:t>Spring Security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2331720"/>
            <a:ext cx="3657600" cy="1645920"/>
          </a:xfrm>
          <a:prstGeom prst="roundRect">
            <a:avLst/>
          </a:prstGeom>
          <a:solidFill>
            <a:srgbClr val="1B1F27"/>
          </a:solidFill>
          <a:ln w="9525">
            <a:solidFill>
              <a:srgbClr val="3035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2514600"/>
            <a:ext cx="3200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>
                <a:solidFill>
                  <a:srgbClr val="CBE7FF"/>
                </a:solidFill>
                <a:latin typeface="JetBrains Mono"/>
              </a:rPr>
              <a:t>http.authorizeRequests()</a:t>
            </a:r>
          </a:p>
          <a:p>
            <a:pPr algn="l"/>
            <a:r>
              <a:rPr sz="1400">
                <a:solidFill>
                  <a:srgbClr val="CBE7FF"/>
                </a:solidFill>
                <a:latin typeface="JetBrains Mono"/>
              </a:rPr>
              <a:t>  .antMatchers("/admin/**")</a:t>
            </a:r>
          </a:p>
          <a:p>
            <a:pPr algn="l"/>
            <a:r>
              <a:rPr sz="1400">
                <a:solidFill>
                  <a:srgbClr val="CBE7FF"/>
                </a:solidFill>
                <a:latin typeface="JetBrains Mono"/>
              </a:rPr>
              <a:t>    .hasRole("ADMIN")</a:t>
            </a:r>
          </a:p>
          <a:p>
            <a:pPr algn="l"/>
            <a:r>
              <a:rPr sz="1400">
                <a:solidFill>
                  <a:srgbClr val="CBE7FF"/>
                </a:solidFill>
                <a:latin typeface="JetBrains Mono"/>
              </a:rPr>
              <a:t>  .anyRequest().permitAll();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80" y="1965960"/>
            <a:ext cx="3657600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500" b="1">
                <a:solidFill>
                  <a:srgbClr val="F4A81E"/>
                </a:solidFill>
                <a:latin typeface="Inter"/>
              </a:rPr>
              <a:t>HAProxy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2331720"/>
            <a:ext cx="3657600" cy="1645920"/>
          </a:xfrm>
          <a:prstGeom prst="roundRect">
            <a:avLst/>
          </a:prstGeom>
          <a:solidFill>
            <a:srgbClr val="1B1F27"/>
          </a:solidFill>
          <a:ln w="9525">
            <a:solidFill>
              <a:srgbClr val="3035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2514600"/>
            <a:ext cx="3200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>
                <a:solidFill>
                  <a:srgbClr val="CBE7FF"/>
                </a:solidFill>
                <a:latin typeface="JetBrains Mono"/>
              </a:rPr>
              <a:t>acl restricted path_beg /admin</a:t>
            </a:r>
          </a:p>
          <a:p>
            <a:pPr algn="l"/>
            <a:r>
              <a:rPr sz="1400">
                <a:solidFill>
                  <a:srgbClr val="CBE7FF"/>
                </a:solidFill>
                <a:latin typeface="JetBrains Mono"/>
              </a:rPr>
              <a:t>http-request deny if restricted</a:t>
            </a:r>
          </a:p>
          <a:p>
            <a:pPr algn="l"/>
            <a:r>
              <a:rPr sz="1400">
                <a:solidFill>
                  <a:srgbClr val="CBE7FF"/>
                </a:solidFill>
                <a:latin typeface="JetBrains Mono"/>
              </a:rPr>
              <a:t/>
            </a:r>
          </a:p>
          <a:p>
            <a:pPr algn="l"/>
            <a:r>
              <a:rPr sz="1400">
                <a:solidFill>
                  <a:srgbClr val="9CA3AF"/>
                </a:solidFill>
                <a:latin typeface="JetBrains Mono"/>
              </a:rPr>
              <a:t># blocks anything starting /admin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434840"/>
            <a:ext cx="10789920" cy="1463040"/>
          </a:xfrm>
          <a:prstGeom prst="roundRect">
            <a:avLst/>
          </a:prstGeom>
          <a:solidFill>
            <a:srgbClr val="1B1F27"/>
          </a:solidFill>
          <a:ln w="19050">
            <a:solidFill>
              <a:srgbClr val="F4A8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572000"/>
            <a:ext cx="10332720" cy="4572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800" b="1">
                <a:solidFill>
                  <a:srgbClr val="E5E7EB"/>
                </a:solidFill>
                <a:latin typeface="Inter"/>
              </a:rPr>
              <a:t>All three rules compare against the literal string "/admin".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800" b="0">
                <a:solidFill>
                  <a:srgbClr val="E5E7EB"/>
                </a:solidFill>
                <a:latin typeface="Inter"/>
              </a:rPr>
              <a:t>None of them account for every way a client can reach the /admin handler.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532120"/>
            <a:ext cx="10332720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Inter"/>
              </a:rPr>
              <a:t>The URL parser that matches, and the URL parser that routes, are not the same parser.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263640"/>
            <a:ext cx="365760" cy="36576"/>
          </a:xfrm>
          <a:prstGeom prst="rect">
            <a:avLst/>
          </a:prstGeom>
          <a:solidFill>
            <a:srgbClr val="F4A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64008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3600" b="1">
                <a:solidFill>
                  <a:srgbClr val="E5E7EB"/>
                </a:solidFill>
                <a:latin typeface="Inter"/>
              </a:rPr>
              <a:t>Not a one-off. Every stack has these.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4572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800" b="0">
                <a:solidFill>
                  <a:srgbClr val="9CA3AF"/>
                </a:solidFill>
                <a:latin typeface="Inter"/>
              </a:rPr>
              <a:t>Three more from the same talk. Each is a real bypass, in a real stack.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89920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600" b="1">
                <a:solidFill>
                  <a:srgbClr val="F4A81E"/>
                </a:solidFill>
                <a:latin typeface="Inter"/>
              </a:rPr>
              <a:t>Nginx + Weblogic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240280"/>
            <a:ext cx="10789920" cy="914400"/>
          </a:xfrm>
          <a:prstGeom prst="roundRect">
            <a:avLst/>
          </a:prstGeom>
          <a:solidFill>
            <a:srgbClr val="1B1F27"/>
          </a:solidFill>
          <a:ln w="9525">
            <a:solidFill>
              <a:srgbClr val="3035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>
                <a:solidFill>
                  <a:srgbClr val="CBE7FF"/>
                </a:solidFill>
                <a:latin typeface="JetBrains Mono"/>
              </a:rPr>
              <a:t>GET /#/../Login.jsp HTTP/1.1</a:t>
            </a:r>
          </a:p>
          <a:p>
            <a:pPr algn="l"/>
            <a:r>
              <a:rPr sz="1400">
                <a:solidFill>
                  <a:srgbClr val="9CA3AF"/>
                </a:solidFill>
                <a:latin typeface="JetBrains Mono"/>
              </a:rPr>
              <a:t>     Nginx sees:     /        (# is a fragment)</a:t>
            </a:r>
          </a:p>
          <a:p>
            <a:pPr algn="l"/>
            <a:r>
              <a:rPr sz="1400">
                <a:solidFill>
                  <a:srgbClr val="4ADE80"/>
                </a:solidFill>
                <a:latin typeface="JetBrains Mono"/>
              </a:rPr>
              <a:t>     Weblogic sees:  /Login.jsp   ← bypasses the block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337560"/>
            <a:ext cx="10789920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600" b="1">
                <a:solidFill>
                  <a:srgbClr val="F4A81E"/>
                </a:solidFill>
                <a:latin typeface="Inter"/>
              </a:rPr>
              <a:t>Nginx + Tomcat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749039"/>
            <a:ext cx="10789920" cy="914400"/>
          </a:xfrm>
          <a:prstGeom prst="roundRect">
            <a:avLst/>
          </a:prstGeom>
          <a:solidFill>
            <a:srgbClr val="1B1F27"/>
          </a:solidFill>
          <a:ln w="9525">
            <a:solidFill>
              <a:srgbClr val="3035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31919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>
                <a:solidFill>
                  <a:srgbClr val="CBE7FF"/>
                </a:solidFill>
                <a:latin typeface="JetBrains Mono"/>
              </a:rPr>
              <a:t>GET /iframe_safe/..;/admin HTTP/1.1</a:t>
            </a:r>
          </a:p>
          <a:p>
            <a:pPr algn="l"/>
            <a:r>
              <a:rPr sz="1400">
                <a:solidFill>
                  <a:srgbClr val="9CA3AF"/>
                </a:solidFill>
                <a:latin typeface="JetBrains Mono"/>
              </a:rPr>
              <a:t>     Nginx sees:     /iframe_safe/... (inside the allow rule)</a:t>
            </a:r>
          </a:p>
          <a:p>
            <a:pPr algn="l"/>
            <a:r>
              <a:rPr sz="1400">
                <a:solidFill>
                  <a:srgbClr val="4ADE80"/>
                </a:solidFill>
                <a:latin typeface="JetBrains Mono"/>
              </a:rPr>
              <a:t>     Tomcat sees:    /admin   ← matrix param ;/ collapses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846320"/>
            <a:ext cx="10789920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600" b="1">
                <a:solidFill>
                  <a:srgbClr val="F4A81E"/>
                </a:solidFill>
                <a:latin typeface="Inter"/>
              </a:rPr>
              <a:t>HAProxy path_beg /admin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5257800"/>
            <a:ext cx="10789920" cy="914400"/>
          </a:xfrm>
          <a:prstGeom prst="roundRect">
            <a:avLst/>
          </a:prstGeom>
          <a:solidFill>
            <a:srgbClr val="1B1F27"/>
          </a:solidFill>
          <a:ln w="9525">
            <a:solidFill>
              <a:srgbClr val="3035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44068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>
                <a:solidFill>
                  <a:srgbClr val="CBE7FF"/>
                </a:solidFill>
                <a:latin typeface="JetBrains Mono"/>
              </a:rPr>
              <a:t>GET /%61dmin HTTP/1.1</a:t>
            </a:r>
          </a:p>
          <a:p>
            <a:pPr algn="l"/>
            <a:r>
              <a:rPr sz="1400">
                <a:solidFill>
                  <a:srgbClr val="9CA3AF"/>
                </a:solidFill>
                <a:latin typeface="JetBrains Mono"/>
              </a:rPr>
              <a:t>     HAProxy sees:   /%61dmin (literal, no match)</a:t>
            </a:r>
          </a:p>
          <a:p>
            <a:pPr algn="l"/>
            <a:r>
              <a:rPr sz="1400">
                <a:solidFill>
                  <a:srgbClr val="4ADE80"/>
                </a:solidFill>
                <a:latin typeface="JetBrains Mono"/>
              </a:rPr>
              <a:t>     Origin sees:    /admin   ← URL-decoded before dispatch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263640"/>
            <a:ext cx="365760" cy="36576"/>
          </a:xfrm>
          <a:prstGeom prst="rect">
            <a:avLst/>
          </a:prstGeom>
          <a:solidFill>
            <a:srgbClr val="F4A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Inter"/>
              </a:rPr>
              <a:t>All three examples recreated from: Aleksei Tiurin — "Reverse Proxies &amp; Inconsistency," ZeroNights 2018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64008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3600" b="1">
                <a:solidFill>
                  <a:srgbClr val="E5E7EB"/>
                </a:solidFill>
                <a:latin typeface="Inter"/>
              </a:rPr>
              <a:t>Doing this by hand doesn't scale.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4572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800" b="0">
                <a:solidFill>
                  <a:srgbClr val="9CA3AF"/>
                </a:solidFill>
                <a:latin typeface="Inter"/>
              </a:rPr>
              <a:t>For a single /admin returning 403, a thorough test has to try: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3840480" cy="41148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700" b="1">
                <a:solidFill>
                  <a:srgbClr val="E5E7EB"/>
                </a:solidFill>
                <a:latin typeface="Inter"/>
              </a:rPr>
              <a:t>• ~15 encoding tricks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1920240"/>
            <a:ext cx="6995160" cy="41148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JetBrains Mono"/>
              </a:rPr>
              <a:t>single, double, triple, overlong UTF-8, fullwidth Unicode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423160"/>
            <a:ext cx="3840480" cy="41148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700" b="1">
                <a:solidFill>
                  <a:srgbClr val="E5E7EB"/>
                </a:solidFill>
                <a:latin typeface="Inter"/>
              </a:rPr>
              <a:t>• ~8 path-shape primitives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2423160"/>
            <a:ext cx="6995160" cy="41148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JetBrains Mono"/>
              </a:rPr>
              <a:t>../  ..;/  ..%2f  /./  sacrificial-prefix  matrix-param  ..\  //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26080"/>
            <a:ext cx="3840480" cy="41148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700" b="1">
                <a:solidFill>
                  <a:srgbClr val="E5E7EB"/>
                </a:solidFill>
                <a:latin typeface="Inter"/>
              </a:rPr>
              <a:t>• ~5 whitespace/control insertions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926080"/>
            <a:ext cx="6995160" cy="41148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JetBrains Mono"/>
              </a:rPr>
              <a:t>%09  %0a  %0d  %20  %00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429000"/>
            <a:ext cx="3840480" cy="41148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700" b="1">
                <a:solidFill>
                  <a:srgbClr val="E5E7EB"/>
                </a:solidFill>
                <a:latin typeface="Inter"/>
              </a:rPr>
              <a:t>• cross-combinations of the above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3429000"/>
            <a:ext cx="6995160" cy="41148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JetBrains Mono"/>
              </a:rPr>
              <a:t>../..%2f   ..;/%2e%2e%2f   %2e%09%2e   /x/../  /%u002e  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931920"/>
            <a:ext cx="3840480" cy="41148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700" b="1">
                <a:solidFill>
                  <a:srgbClr val="E5E7EB"/>
                </a:solidFill>
                <a:latin typeface="Inter"/>
              </a:rPr>
              <a:t>• target-preservation constraint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3931920"/>
            <a:ext cx="6995160" cy="41148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JetBrains Mono"/>
              </a:rPr>
              <a:t>every variant must still resolve to /admin after server-side normalization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846320"/>
            <a:ext cx="10789920" cy="1280160"/>
          </a:xfrm>
          <a:prstGeom prst="roundRect">
            <a:avLst/>
          </a:prstGeom>
          <a:solidFill>
            <a:srgbClr val="1B1F27"/>
          </a:solidFill>
          <a:ln w="19050">
            <a:solidFill>
              <a:srgbClr val="F4A8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983480"/>
            <a:ext cx="10332720" cy="4572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800" b="1">
                <a:solidFill>
                  <a:srgbClr val="E5E7EB"/>
                </a:solidFill>
                <a:latin typeface="Inter"/>
              </a:rPr>
              <a:t>Manual fuzz of one endpoint can take forever, maybe 50 variants tried before you give 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394960"/>
            <a:ext cx="10332720" cy="4572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800" b="1">
                <a:solidFill>
                  <a:srgbClr val="F4A81E"/>
                </a:solidFill>
                <a:latin typeface="Inter"/>
              </a:rPr>
              <a:t>BypassFuzzer Path attack against /admin: ~14,000 variants, ~45 seconds.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806440"/>
            <a:ext cx="1033272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Inter"/>
              </a:rPr>
              <a:t>Every one of them target-preserving — a 200 means you bypassed AuthZ on THAT endpoint.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263640"/>
            <a:ext cx="365760" cy="36576"/>
          </a:xfrm>
          <a:prstGeom prst="rect">
            <a:avLst/>
          </a:prstGeom>
          <a:solidFill>
            <a:srgbClr val="F4A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