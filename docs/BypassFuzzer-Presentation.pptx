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789920" cy="109728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6400" b="1">
                <a:solidFill>
                  <a:srgbClr val="F4A81E"/>
                </a:solidFill>
                <a:latin typeface="Inter"/>
              </a:rPr>
              <a:t>BypassFuzzer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246120"/>
            <a:ext cx="10789920" cy="82296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2800" b="0">
                <a:solidFill>
                  <a:srgbClr val="E5E7EB"/>
                </a:solidFill>
                <a:latin typeface="Inter"/>
              </a:rPr>
              <a:t>Automating AuthZ Bypass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14800"/>
            <a:ext cx="10789920" cy="45720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600" b="0">
                <a:solidFill>
                  <a:srgbClr val="9CA3AF"/>
                </a:solidFill>
                <a:latin typeface="Inter"/>
              </a:rPr>
              <a:t>Burp Suite extension · Bypass · URL Validation · IDOR tabs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760720"/>
            <a:ext cx="10789920" cy="36576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800" b="1">
                <a:solidFill>
                  <a:srgbClr val="E5E7EB"/>
                </a:solidFill>
                <a:latin typeface="Inter"/>
              </a:rPr>
              <a:t>Jonathan Conesa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172200"/>
            <a:ext cx="10789920" cy="32004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Security Consultant  ·  NetSpi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103120"/>
            <a:ext cx="457200" cy="73152"/>
          </a:xfrm>
          <a:prstGeom prst="rect">
            <a:avLst/>
          </a:prstGeom>
          <a:solidFill>
            <a:srgbClr val="F4A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789920" cy="64008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3400" b="1">
                <a:solidFill>
                  <a:srgbClr val="E5E7EB"/>
                </a:solidFill>
                <a:latin typeface="Inter"/>
              </a:rPr>
              <a:t>The research this tool automates.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43000"/>
            <a:ext cx="10789920" cy="45720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600" b="0">
                <a:solidFill>
                  <a:srgbClr val="9CA3AF"/>
                </a:solidFill>
                <a:latin typeface="Inter"/>
              </a:rPr>
              <a:t>Two talks from 2018 defined this bug class. Not much landmark research has landed since.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194560"/>
            <a:ext cx="10789920" cy="1234440"/>
          </a:xfrm>
          <a:prstGeom prst="roundRect">
            <a:avLst/>
          </a:prstGeom>
          <a:solidFill>
            <a:srgbClr val="1B1F27"/>
          </a:solidFill>
          <a:ln w="9525">
            <a:solidFill>
              <a:srgbClr val="303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194560"/>
            <a:ext cx="73152" cy="1234440"/>
          </a:xfrm>
          <a:prstGeom prst="rect">
            <a:avLst/>
          </a:prstGeom>
          <a:solidFill>
            <a:srgbClr val="F4A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86000"/>
            <a:ext cx="10515600" cy="27432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100" b="1">
                <a:solidFill>
                  <a:srgbClr val="F4A81E"/>
                </a:solidFill>
                <a:latin typeface="Inter"/>
              </a:rPr>
              <a:t>BLACK HAT USA 2018 · DEF CON 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14600"/>
            <a:ext cx="10515600" cy="41148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800" b="1">
                <a:solidFill>
                  <a:srgbClr val="E5E7EB"/>
                </a:solidFill>
                <a:latin typeface="Inter"/>
              </a:rPr>
              <a:t>Breaking Parser Logic! Take Your Path Normalization Off and Pop 0days Out!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880360"/>
            <a:ext cx="10515600" cy="27432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Inter"/>
              </a:rPr>
              <a:t>Orange Tsai  ·  @orange_8361  ·  DEVCORE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127248"/>
            <a:ext cx="10515600" cy="27432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000" b="0">
                <a:solidFill>
                  <a:srgbClr val="CBE7FF"/>
                </a:solidFill>
                <a:latin typeface="JetBrains Mono"/>
              </a:rPr>
              <a:t>i.blackhat.com/us-18/Wed-August-8/us-18-Orange-Tsai-Breaking-Parser-Logic-...pdf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749039"/>
            <a:ext cx="10789920" cy="1234440"/>
          </a:xfrm>
          <a:prstGeom prst="roundRect">
            <a:avLst/>
          </a:prstGeom>
          <a:solidFill>
            <a:srgbClr val="1B1F27"/>
          </a:solidFill>
          <a:ln w="9525">
            <a:solidFill>
              <a:srgbClr val="303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749039"/>
            <a:ext cx="73152" cy="1234440"/>
          </a:xfrm>
          <a:prstGeom prst="rect">
            <a:avLst/>
          </a:prstGeom>
          <a:solidFill>
            <a:srgbClr val="F4A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840479"/>
            <a:ext cx="10515600" cy="27432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100" b="1">
                <a:solidFill>
                  <a:srgbClr val="F4A81E"/>
                </a:solidFill>
                <a:latin typeface="Inter"/>
              </a:rPr>
              <a:t>ZERONIGHTS 2018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69079"/>
            <a:ext cx="10515600" cy="41148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800" b="1">
                <a:solidFill>
                  <a:srgbClr val="E5E7EB"/>
                </a:solidFill>
                <a:latin typeface="Inter"/>
              </a:rPr>
              <a:t>Reverse Proxies &amp; Inconsistency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434839"/>
            <a:ext cx="10515600" cy="27432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Inter"/>
              </a:rPr>
              <a:t>Aleksei "GreenDog" Tiurin  ·  @antyurin  ·  Acunetix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681727"/>
            <a:ext cx="10515600" cy="27432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000" b="0">
                <a:solidFill>
                  <a:srgbClr val="CBE7FF"/>
                </a:solidFill>
                <a:latin typeface="JetBrains Mono"/>
              </a:rPr>
              <a:t>2018.zeronights.ru/wp-content/uploads/materials/20-Reverse-proxies-Inconsistency.pdf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669280"/>
            <a:ext cx="10789920" cy="36576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500" b="0">
                <a:solidFill>
                  <a:srgbClr val="E5E7EB"/>
                </a:solidFill>
                <a:latin typeface="Inter"/>
              </a:rPr>
              <a:t>Two parallel 2018 publications. Since then: CVEs (Spring, Tomcat, Jetty, Next.js) and bounty writeups.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080760"/>
            <a:ext cx="10789920" cy="36576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300" b="0">
                <a:solidFill>
                  <a:srgbClr val="9CA3AF"/>
                </a:solidFill>
                <a:latin typeface="Inter"/>
              </a:rPr>
              <a:t>The tool folds in their taxonomy, the CVEs since, and folk techniques (overlong UTF-8, tab-splitter, sacrificial prefix).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263640"/>
            <a:ext cx="365760" cy="36576"/>
          </a:xfrm>
          <a:prstGeom prst="rect">
            <a:avLst/>
          </a:prstGeom>
          <a:solidFill>
            <a:srgbClr val="F4A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789920" cy="64008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3600" b="1">
                <a:solidFill>
                  <a:srgbClr val="E5E7EB"/>
                </a:solidFill>
                <a:latin typeface="Inter"/>
              </a:rPr>
              <a:t>What we're trying to bypass.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43000"/>
            <a:ext cx="10789920" cy="45720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800" b="0">
                <a:solidFill>
                  <a:srgbClr val="9CA3AF"/>
                </a:solidFill>
                <a:latin typeface="Inter"/>
              </a:rPr>
              <a:t>Every stack ships a flavor of "block requests to /admin." Teams trust these rules.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965960"/>
            <a:ext cx="3657600" cy="36576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500" b="1">
                <a:solidFill>
                  <a:srgbClr val="F4A81E"/>
                </a:solidFill>
                <a:latin typeface="Inter"/>
              </a:rPr>
              <a:t>Nginx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2331720"/>
            <a:ext cx="3657600" cy="1645920"/>
          </a:xfrm>
          <a:prstGeom prst="roundRect">
            <a:avLst/>
          </a:prstGeom>
          <a:solidFill>
            <a:srgbClr val="1B1F27"/>
          </a:solidFill>
          <a:ln w="9525">
            <a:solidFill>
              <a:srgbClr val="303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514600"/>
            <a:ext cx="3200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location /admin {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    deny all;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}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965960"/>
            <a:ext cx="3657600" cy="36576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500" b="1">
                <a:solidFill>
                  <a:srgbClr val="F4A81E"/>
                </a:solidFill>
                <a:latin typeface="Inter"/>
              </a:rPr>
              <a:t>Spring Security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2331720"/>
            <a:ext cx="3657600" cy="1645920"/>
          </a:xfrm>
          <a:prstGeom prst="roundRect">
            <a:avLst/>
          </a:prstGeom>
          <a:solidFill>
            <a:srgbClr val="1B1F27"/>
          </a:solidFill>
          <a:ln w="9525">
            <a:solidFill>
              <a:srgbClr val="303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2514600"/>
            <a:ext cx="3200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http.authorizeRequests()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  .antMatchers("/admin/**")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    .hasRole("ADMIN")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  .anyRequest().permitAll();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80" y="1965960"/>
            <a:ext cx="3657600" cy="36576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500" b="1">
                <a:solidFill>
                  <a:srgbClr val="F4A81E"/>
                </a:solidFill>
                <a:latin typeface="Inter"/>
              </a:rPr>
              <a:t>HAProxy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2331720"/>
            <a:ext cx="3657600" cy="1645920"/>
          </a:xfrm>
          <a:prstGeom prst="roundRect">
            <a:avLst/>
          </a:prstGeom>
          <a:solidFill>
            <a:srgbClr val="1B1F27"/>
          </a:solidFill>
          <a:ln w="9525">
            <a:solidFill>
              <a:srgbClr val="303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514600"/>
            <a:ext cx="3200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acl restricted path_beg /admin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http-request deny if restricted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/>
            </a:r>
          </a:p>
          <a:p>
            <a:pPr algn="l"/>
            <a:r>
              <a:rPr sz="1400">
                <a:solidFill>
                  <a:srgbClr val="9CA3AF"/>
                </a:solidFill>
                <a:latin typeface="JetBrains Mono"/>
              </a:rPr>
              <a:t># blocks anything starting /admin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434840"/>
            <a:ext cx="10789920" cy="1463040"/>
          </a:xfrm>
          <a:prstGeom prst="roundRect">
            <a:avLst/>
          </a:prstGeom>
          <a:solidFill>
            <a:srgbClr val="1B1F27"/>
          </a:solidFill>
          <a:ln w="19050">
            <a:solidFill>
              <a:srgbClr val="F4A8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5720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800" b="1">
                <a:solidFill>
                  <a:srgbClr val="E5E7EB"/>
                </a:solidFill>
                <a:latin typeface="Inter"/>
              </a:rPr>
              <a:t>All three rules compare against the literal string "/admin".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0292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800" b="0">
                <a:solidFill>
                  <a:srgbClr val="E5E7EB"/>
                </a:solidFill>
                <a:latin typeface="Inter"/>
              </a:rPr>
              <a:t>None of them account for every way a client can reach the /admin handler.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532120"/>
            <a:ext cx="10332720" cy="36576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400" b="0">
                <a:solidFill>
                  <a:srgbClr val="9CA3AF"/>
                </a:solidFill>
                <a:latin typeface="Inter"/>
              </a:rPr>
              <a:t>The URL parser that matches, and the URL parser that routes, are not the same parser.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263640"/>
            <a:ext cx="365760" cy="36576"/>
          </a:xfrm>
          <a:prstGeom prst="rect">
            <a:avLst/>
          </a:prstGeom>
          <a:solidFill>
            <a:srgbClr val="F4A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789920" cy="64008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3600" b="1">
                <a:solidFill>
                  <a:srgbClr val="E5E7EB"/>
                </a:solidFill>
                <a:latin typeface="Inter"/>
              </a:rPr>
              <a:t>Not a one-off. Every stack has these.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43000"/>
            <a:ext cx="10789920" cy="45720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800" b="0">
                <a:solidFill>
                  <a:srgbClr val="9CA3AF"/>
                </a:solidFill>
                <a:latin typeface="Inter"/>
              </a:rPr>
              <a:t>Three more from the same talk. Each is a real bypass, in a real stack.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789920" cy="36576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600" b="1">
                <a:solidFill>
                  <a:srgbClr val="F4A81E"/>
                </a:solidFill>
                <a:latin typeface="Inter"/>
              </a:rPr>
              <a:t>Nginx + Weblogic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40280"/>
            <a:ext cx="10789920" cy="914400"/>
          </a:xfrm>
          <a:prstGeom prst="roundRect">
            <a:avLst/>
          </a:prstGeom>
          <a:solidFill>
            <a:srgbClr val="1B1F27"/>
          </a:solidFill>
          <a:ln w="9525">
            <a:solidFill>
              <a:srgbClr val="303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GET /#/../Login.jsp HTTP/1.1</a:t>
            </a:r>
          </a:p>
          <a:p>
            <a:pPr algn="l"/>
            <a:r>
              <a:rPr sz="1400">
                <a:solidFill>
                  <a:srgbClr val="9CA3AF"/>
                </a:solidFill>
                <a:latin typeface="JetBrains Mono"/>
              </a:rPr>
              <a:t>     Nginx sees:     /        (# is a fragment)</a:t>
            </a:r>
          </a:p>
          <a:p>
            <a:pPr algn="l"/>
            <a:r>
              <a:rPr sz="1400">
                <a:solidFill>
                  <a:srgbClr val="4ADE80"/>
                </a:solidFill>
                <a:latin typeface="JetBrains Mono"/>
              </a:rPr>
              <a:t>     Weblogic sees:  /Login.jsp   ← bypasses the block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37560"/>
            <a:ext cx="10789920" cy="36576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600" b="1">
                <a:solidFill>
                  <a:srgbClr val="F4A81E"/>
                </a:solidFill>
                <a:latin typeface="Inter"/>
              </a:rPr>
              <a:t>Nginx + Tomcat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749039"/>
            <a:ext cx="10789920" cy="914400"/>
          </a:xfrm>
          <a:prstGeom prst="roundRect">
            <a:avLst/>
          </a:prstGeom>
          <a:solidFill>
            <a:srgbClr val="1B1F27"/>
          </a:solidFill>
          <a:ln w="9525">
            <a:solidFill>
              <a:srgbClr val="303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31919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GET /iframe_safe/..;/admin HTTP/1.1</a:t>
            </a:r>
          </a:p>
          <a:p>
            <a:pPr algn="l"/>
            <a:r>
              <a:rPr sz="1400">
                <a:solidFill>
                  <a:srgbClr val="9CA3AF"/>
                </a:solidFill>
                <a:latin typeface="JetBrains Mono"/>
              </a:rPr>
              <a:t>     Nginx sees:     /iframe_safe/... (inside the allow rule)</a:t>
            </a:r>
          </a:p>
          <a:p>
            <a:pPr algn="l"/>
            <a:r>
              <a:rPr sz="1400">
                <a:solidFill>
                  <a:srgbClr val="4ADE80"/>
                </a:solidFill>
                <a:latin typeface="JetBrains Mono"/>
              </a:rPr>
              <a:t>     Tomcat sees:    /admin   ← matrix param ;/ collapses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46320"/>
            <a:ext cx="10789920" cy="36576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600" b="1">
                <a:solidFill>
                  <a:srgbClr val="F4A81E"/>
                </a:solidFill>
                <a:latin typeface="Inter"/>
              </a:rPr>
              <a:t>HAProxy path_beg /admin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5257800"/>
            <a:ext cx="10789920" cy="914400"/>
          </a:xfrm>
          <a:prstGeom prst="roundRect">
            <a:avLst/>
          </a:prstGeom>
          <a:solidFill>
            <a:srgbClr val="1B1F27"/>
          </a:solidFill>
          <a:ln w="9525">
            <a:solidFill>
              <a:srgbClr val="303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44068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GET /%61dmin HTTP/1.1</a:t>
            </a:r>
          </a:p>
          <a:p>
            <a:pPr algn="l"/>
            <a:r>
              <a:rPr sz="1400">
                <a:solidFill>
                  <a:srgbClr val="9CA3AF"/>
                </a:solidFill>
                <a:latin typeface="JetBrains Mono"/>
              </a:rPr>
              <a:t>     HAProxy sees:   /%61dmin (literal, no match)</a:t>
            </a:r>
          </a:p>
          <a:p>
            <a:pPr algn="l"/>
            <a:r>
              <a:rPr sz="1400">
                <a:solidFill>
                  <a:srgbClr val="4ADE80"/>
                </a:solidFill>
                <a:latin typeface="JetBrains Mono"/>
              </a:rPr>
              <a:t>     Origin sees:    /admin   ← URL-decoded before dispatch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6263640"/>
            <a:ext cx="365760" cy="36576"/>
          </a:xfrm>
          <a:prstGeom prst="rect">
            <a:avLst/>
          </a:prstGeom>
          <a:solidFill>
            <a:srgbClr val="F4A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All three examples recreated from: Aleksei Tiurin — "Reverse Proxies &amp; Inconsistency," ZeroNights 2018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789920" cy="64008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3600" b="1">
                <a:solidFill>
                  <a:srgbClr val="E5E7EB"/>
                </a:solidFill>
                <a:latin typeface="Inter"/>
              </a:rPr>
              <a:t>Doing this by hand doesn't scale.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43000"/>
            <a:ext cx="10789920" cy="45720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800" b="0">
                <a:solidFill>
                  <a:srgbClr val="9CA3AF"/>
                </a:solidFill>
                <a:latin typeface="Inter"/>
              </a:rPr>
              <a:t>For a single /admin returning 403, a thorough test has to try: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20240"/>
            <a:ext cx="3840480" cy="41148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700" b="1">
                <a:solidFill>
                  <a:srgbClr val="E5E7EB"/>
                </a:solidFill>
                <a:latin typeface="Inter"/>
              </a:rPr>
              <a:t>• ~15 encoding tricks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920240"/>
            <a:ext cx="6995160" cy="41148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400" b="0">
                <a:solidFill>
                  <a:srgbClr val="9CA3AF"/>
                </a:solidFill>
                <a:latin typeface="JetBrains Mono"/>
              </a:rPr>
              <a:t>single, double, triple, overlong UTF-8, fullwidth Unicode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23160"/>
            <a:ext cx="3840480" cy="41148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700" b="1">
                <a:solidFill>
                  <a:srgbClr val="E5E7EB"/>
                </a:solidFill>
                <a:latin typeface="Inter"/>
              </a:rPr>
              <a:t>• ~8 path-shape primitives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423160"/>
            <a:ext cx="6995160" cy="41148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400" b="0">
                <a:solidFill>
                  <a:srgbClr val="9CA3AF"/>
                </a:solidFill>
                <a:latin typeface="JetBrains Mono"/>
              </a:rPr>
              <a:t>../  ..;/  ..%2f  /./  /x/../  /users;foo=bar/profile  ..\  //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26080"/>
            <a:ext cx="3840480" cy="41148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700" b="1">
                <a:solidFill>
                  <a:srgbClr val="E5E7EB"/>
                </a:solidFill>
                <a:latin typeface="Inter"/>
              </a:rPr>
              <a:t>• ~5 whitespace/control insertions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926080"/>
            <a:ext cx="6995160" cy="41148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400" b="0">
                <a:solidFill>
                  <a:srgbClr val="9CA3AF"/>
                </a:solidFill>
                <a:latin typeface="JetBrains Mono"/>
              </a:rPr>
              <a:t>%09  %0a  %0d  %20  %00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429000"/>
            <a:ext cx="3840480" cy="41148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700" b="1">
                <a:solidFill>
                  <a:srgbClr val="E5E7EB"/>
                </a:solidFill>
                <a:latin typeface="Inter"/>
              </a:rPr>
              <a:t>• cross-combinations of the above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3429000"/>
            <a:ext cx="6995160" cy="41148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400" b="0">
                <a:solidFill>
                  <a:srgbClr val="9CA3AF"/>
                </a:solidFill>
                <a:latin typeface="JetBrains Mono"/>
              </a:rPr>
              <a:t>../..%2f   ..;/%2e%2e%2f   %2e%09%2e   /x/../  /%u002e  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931920"/>
            <a:ext cx="3840480" cy="41148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700" b="1">
                <a:solidFill>
                  <a:srgbClr val="E5E7EB"/>
                </a:solidFill>
                <a:latin typeface="Inter"/>
              </a:rPr>
              <a:t>• target-preservation constraint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3931920"/>
            <a:ext cx="6995160" cy="41148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400" b="0">
                <a:solidFill>
                  <a:srgbClr val="9CA3AF"/>
                </a:solidFill>
                <a:latin typeface="JetBrains Mono"/>
              </a:rPr>
              <a:t>every variant must still resolve to /admin after server-side normalization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846320"/>
            <a:ext cx="10789920" cy="1280160"/>
          </a:xfrm>
          <a:prstGeom prst="roundRect">
            <a:avLst/>
          </a:prstGeom>
          <a:solidFill>
            <a:srgbClr val="1B1F27"/>
          </a:solidFill>
          <a:ln w="19050">
            <a:solidFill>
              <a:srgbClr val="F4A8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983480"/>
            <a:ext cx="10332720" cy="45720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800" b="1">
                <a:solidFill>
                  <a:srgbClr val="E5E7EB"/>
                </a:solidFill>
                <a:latin typeface="Inter"/>
              </a:rPr>
              <a:t>Manual fuzz of one endpoint can take forever, maybe 50 variants tried before you give up.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800" b="1">
                <a:solidFill>
                  <a:srgbClr val="F4A81E"/>
                </a:solidFill>
                <a:latin typeface="Inter"/>
              </a:rPr>
              <a:t>BypassFuzzer Path attack against /admin: ~14,000 variants, ~45 seconds.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806440"/>
            <a:ext cx="10332720" cy="32004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300" b="0">
                <a:solidFill>
                  <a:srgbClr val="9CA3AF"/>
                </a:solidFill>
                <a:latin typeface="Inter"/>
              </a:rPr>
              <a:t>Every one of them target-preserving — a 200 means you bypassed AuthZ on THAT endpoint.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263640"/>
            <a:ext cx="365760" cy="36576"/>
          </a:xfrm>
          <a:prstGeom prst="rect">
            <a:avLst/>
          </a:prstGeom>
          <a:solidFill>
            <a:srgbClr val="F4A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789920" cy="64008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3600" b="1">
                <a:solidFill>
                  <a:srgbClr val="E5E7EB"/>
                </a:solidFill>
                <a:latin typeface="Inter"/>
              </a:rPr>
              <a:t>Seen in the wild.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43000"/>
            <a:ext cx="10789920" cy="45720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600" b="0">
                <a:solidFill>
                  <a:srgbClr val="9CA3AF"/>
                </a:solidFill>
                <a:latin typeface="Inter"/>
              </a:rPr>
              <a:t>An engagement target's user-registration API. Unauth user hitting the admin endpoint. Expected 403.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74519"/>
            <a:ext cx="10789920" cy="36576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300" b="1">
                <a:solidFill>
                  <a:srgbClr val="F4A81E"/>
                </a:solidFill>
                <a:latin typeface="Inter"/>
              </a:rPr>
              <a:t>Request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40280"/>
            <a:ext cx="10789920" cy="2606040"/>
          </a:xfrm>
          <a:prstGeom prst="roundRect">
            <a:avLst/>
          </a:prstGeom>
          <a:solidFill>
            <a:srgbClr val="1B1F27"/>
          </a:solidFill>
          <a:ln w="9525">
            <a:solidFill>
              <a:srgbClr val="303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1033272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POST /api/v1/users HTTP/2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Content-Type: application/json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/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{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  "email": "jconesa@...net-spi.com",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  "userName": "jconesa",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  "roleId": "60183e185dacfc6814829ac7",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  "groups": [], "preferences": { "localeId": "en-US" }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29200"/>
            <a:ext cx="10789920" cy="36576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300" b="1">
                <a:solidFill>
                  <a:srgbClr val="F4A81E"/>
                </a:solidFill>
                <a:latin typeface="Inter"/>
              </a:rPr>
              <a:t>Response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5394960"/>
            <a:ext cx="10789920" cy="914400"/>
          </a:xfrm>
          <a:prstGeom prst="roundRect">
            <a:avLst/>
          </a:prstGeom>
          <a:solidFill>
            <a:srgbClr val="1B1F27"/>
          </a:solidFill>
          <a:ln w="9525">
            <a:solidFill>
              <a:srgbClr val="303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>
                <a:solidFill>
                  <a:srgbClr val="F47171"/>
                </a:solidFill>
                <a:latin typeface="JetBrains Mono"/>
              </a:rPr>
              <a:t>HTTP/2 403 Forbidden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/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{"error":{"code":101,"message":"Access denied","status":403}}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6263640"/>
            <a:ext cx="365760" cy="36576"/>
          </a:xfrm>
          <a:prstGeom prst="rect">
            <a:avLst/>
          </a:prstGeom>
          <a:solidFill>
            <a:srgbClr val="F4A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789920" cy="64008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3600" b="1">
                <a:solidFill>
                  <a:srgbClr val="E5E7EB"/>
                </a:solidFill>
                <a:latin typeface="Inter"/>
              </a:rPr>
              <a:t>Three slashes later.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43000"/>
            <a:ext cx="10789920" cy="45720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600" b="0">
                <a:solidFill>
                  <a:srgbClr val="9CA3AF"/>
                </a:solidFill>
                <a:latin typeface="Inter"/>
              </a:rPr>
              <a:t>Same body. Same headers. One path mutation.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74519"/>
            <a:ext cx="10789920" cy="36576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300" b="1">
                <a:solidFill>
                  <a:srgbClr val="F4A81E"/>
                </a:solidFill>
                <a:latin typeface="Inter"/>
              </a:rPr>
              <a:t>Request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40280"/>
            <a:ext cx="10789920" cy="2606040"/>
          </a:xfrm>
          <a:prstGeom prst="roundRect">
            <a:avLst/>
          </a:prstGeom>
          <a:solidFill>
            <a:srgbClr val="1B1F27"/>
          </a:solidFill>
          <a:ln w="9525">
            <a:solidFill>
              <a:srgbClr val="303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1033272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>
                <a:solidFill>
                  <a:srgbClr val="4ADE80"/>
                </a:solidFill>
                <a:latin typeface="JetBrains Mono"/>
              </a:rPr>
              <a:t>POST /api///v1/users HTTP/2      ← note the /// between api and v1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Content-Type: application/json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/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{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  "email": "jconesa@...net-spi.com",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  "userName": "jconesa",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  "roleId": "&lt;admin-role-id&gt;",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  ...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29200"/>
            <a:ext cx="10789920" cy="36576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300" b="1">
                <a:solidFill>
                  <a:srgbClr val="F4A81E"/>
                </a:solidFill>
                <a:latin typeface="Inter"/>
              </a:rPr>
              <a:t>Response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5394960"/>
            <a:ext cx="10789920" cy="914400"/>
          </a:xfrm>
          <a:prstGeom prst="roundRect">
            <a:avLst/>
          </a:prstGeom>
          <a:solidFill>
            <a:srgbClr val="1B1F27"/>
          </a:solidFill>
          <a:ln w="9525">
            <a:solidFill>
              <a:srgbClr val="303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>
                <a:solidFill>
                  <a:srgbClr val="4ADE80"/>
                </a:solidFill>
                <a:latin typeface="JetBrains Mono"/>
              </a:rPr>
              <a:t>HTTP/2 201 Created                    ← admin user registered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/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{"id":"6...", "userName":"jconesa", "roleId":"admin"}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6263640"/>
            <a:ext cx="365760" cy="36576"/>
          </a:xfrm>
          <a:prstGeom prst="rect">
            <a:avLst/>
          </a:prstGeom>
          <a:solidFill>
            <a:srgbClr val="F4A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789920" cy="64008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3400" b="1">
                <a:solidFill>
                  <a:srgbClr val="E5E7EB"/>
                </a:solidFill>
                <a:latin typeface="Inter"/>
              </a:rPr>
              <a:t>Another one, found manually.</a:t>
            </a:r>
          </a:p>
        </p:txBody>
      </p:sp>
      <p:pic>
        <p:nvPicPr>
          <p:cNvPr id="4" name="Picture 3" descr="tomcat-by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10789920" cy="2011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3429000"/>
            <a:ext cx="5394960" cy="36576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300" b="1">
                <a:solidFill>
                  <a:srgbClr val="F4A81E"/>
                </a:solidFill>
                <a:latin typeface="Inter"/>
              </a:rPr>
              <a:t>The proxy config (Nginx)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794760"/>
            <a:ext cx="5394960" cy="1371600"/>
          </a:xfrm>
          <a:prstGeom prst="roundRect">
            <a:avLst/>
          </a:prstGeom>
          <a:solidFill>
            <a:srgbClr val="1B1F27"/>
          </a:solidFill>
          <a:ln w="9525">
            <a:solidFill>
              <a:srgbClr val="303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977640"/>
            <a:ext cx="49377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location /script/ {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    proxy_pass http://tomcat:8080;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}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/>
            </a:r>
          </a:p>
          <a:p>
            <a:pPr algn="l"/>
            <a:r>
              <a:rPr sz="1400">
                <a:solidFill>
                  <a:srgbClr val="9CA3AF"/>
                </a:solidFill>
                <a:latin typeface="JetBrains Mono"/>
              </a:rPr>
              <a:t># Nginx treats ..;  as a literal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3429000"/>
            <a:ext cx="5394960" cy="36576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300" b="1">
                <a:solidFill>
                  <a:srgbClr val="F4A81E"/>
                </a:solidFill>
                <a:latin typeface="Inter"/>
              </a:rPr>
              <a:t>What Tomcat actually does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3794760"/>
            <a:ext cx="5394960" cy="1371600"/>
          </a:xfrm>
          <a:prstGeom prst="roundRect">
            <a:avLst/>
          </a:prstGeom>
          <a:solidFill>
            <a:srgbClr val="1B1F27"/>
          </a:solidFill>
          <a:ln w="9525">
            <a:solidFill>
              <a:srgbClr val="303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3977640"/>
            <a:ext cx="49377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GET /script/..;/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   strip ;   →  /script/../</a:t>
            </a:r>
          </a:p>
          <a:p>
            <a:pPr algn="l"/>
            <a:r>
              <a:rPr sz="1400">
                <a:solidFill>
                  <a:srgbClr val="4ADE80"/>
                </a:solidFill>
                <a:latin typeface="JetBrains Mono"/>
              </a:rPr>
              <a:t>   normalize →  /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/>
            </a:r>
          </a:p>
          <a:p>
            <a:pPr algn="l"/>
            <a:r>
              <a:rPr sz="1400">
                <a:solidFill>
                  <a:srgbClr val="4ADE80"/>
                </a:solidFill>
                <a:latin typeface="JetBrains Mono"/>
              </a:rPr>
              <a:t># ROOT context served, unauth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349240"/>
            <a:ext cx="10789920" cy="45720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400" b="1">
                <a:solidFill>
                  <a:srgbClr val="9CA3AF"/>
                </a:solidFill>
                <a:latin typeface="Inter"/>
              </a:rPr>
              <a:t>Proxy and origin disagree on what ..;/ means. Orange Tsai's canonical technique — Uber, Amazon, Bynder all fell to this.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263640"/>
            <a:ext cx="365760" cy="36576"/>
          </a:xfrm>
          <a:prstGeom prst="rect">
            <a:avLst/>
          </a:prstGeom>
          <a:solidFill>
            <a:srgbClr val="F4A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789920" cy="64008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3600" b="1">
                <a:solidFill>
                  <a:srgbClr val="E5E7EB"/>
                </a:solidFill>
                <a:latin typeface="Inter"/>
              </a:rPr>
              <a:t>URL Validation tab.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43000"/>
            <a:ext cx="10789920" cy="45720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600" b="0">
                <a:solidFill>
                  <a:srgbClr val="9CA3AF"/>
                </a:solidFill>
                <a:latin typeface="Inter"/>
              </a:rPr>
              <a:t>Different bypass, same tool. Tests SSRF, open-redirect, and CORS allowlist bypasses.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20240"/>
            <a:ext cx="10789920" cy="1234440"/>
          </a:xfrm>
          <a:prstGeom prst="roundRect">
            <a:avLst/>
          </a:prstGeom>
          <a:solidFill>
            <a:srgbClr val="1B1F27"/>
          </a:solidFill>
          <a:ln w="9525">
            <a:solidFill>
              <a:srgbClr val="303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20240"/>
            <a:ext cx="73152" cy="1234440"/>
          </a:xfrm>
          <a:prstGeom prst="rect">
            <a:avLst/>
          </a:prstGeom>
          <a:solidFill>
            <a:srgbClr val="F4A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11680"/>
            <a:ext cx="10515600" cy="27432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100" b="1">
                <a:solidFill>
                  <a:srgbClr val="F4A81E"/>
                </a:solidFill>
                <a:latin typeface="Inter"/>
              </a:rPr>
              <a:t>PORTSWIGGER RESEARCH  ·  OPEN SOURCE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40280"/>
            <a:ext cx="10515600" cy="41148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800" b="1">
                <a:solidFill>
                  <a:srgbClr val="E5E7EB"/>
                </a:solidFill>
                <a:latin typeface="Inter"/>
              </a:rPr>
              <a:t>URL Validation Bypass Cheat Sheet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06040"/>
            <a:ext cx="10515600" cy="27432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Inter"/>
              </a:rPr>
              <a:t>https://portswigger.net/web-security/ssrf/url-validation-bypass-cheat-sheet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852928"/>
            <a:ext cx="10515600" cy="27432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000" b="0">
                <a:solidFill>
                  <a:srgbClr val="CBE7FF"/>
                </a:solidFill>
                <a:latin typeface="JetBrains Mono"/>
              </a:rPr>
              <a:t>https://github.com/PortSwigger/url-cheatsheet-data  ·  6 categories  ·  open to community PRs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383280"/>
            <a:ext cx="10789920" cy="36576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500" b="1">
                <a:solidFill>
                  <a:srgbClr val="F4A81E"/>
                </a:solidFill>
                <a:latin typeface="Inter"/>
              </a:rPr>
              <a:t>Payloads synced directly from the PortSwigger GitHub repo. Emitted across 3 contexts × 5 encodings.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840480"/>
            <a:ext cx="3429000" cy="1828800"/>
          </a:xfrm>
          <a:prstGeom prst="roundRect">
            <a:avLst/>
          </a:prstGeom>
          <a:solidFill>
            <a:srgbClr val="1B1F27"/>
          </a:solidFill>
          <a:ln w="9525">
            <a:solidFill>
              <a:srgbClr val="303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23360"/>
            <a:ext cx="2971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>
                <a:solidFill>
                  <a:srgbClr val="F4A81E"/>
                </a:solidFill>
                <a:latin typeface="JetBrains Mono"/>
              </a:rPr>
              <a:t>Domain allowlist bypass</a:t>
            </a:r>
          </a:p>
          <a:p>
            <a:pPr algn="l"/>
            <a:r>
              <a:rPr sz="1200">
                <a:solidFill>
                  <a:srgbClr val="4ADE80"/>
                </a:solidFill>
                <a:latin typeface="JetBrains Mono"/>
              </a:rPr>
              <a:t>94 payloads</a:t>
            </a:r>
          </a:p>
          <a:p>
            <a:pPr algn="l"/>
            <a:r>
              <a:rPr sz="1200">
                <a:solidFill>
                  <a:srgbClr val="CBE7FF"/>
                </a:solidFill>
                <a:latin typeface="JetBrains Mono"/>
              </a:rPr>
              <a:t/>
            </a:r>
          </a:p>
          <a:p>
            <a:pPr algn="l"/>
            <a:r>
              <a:rPr sz="1200">
                <a:solidFill>
                  <a:srgbClr val="9CA3AF"/>
                </a:solidFill>
                <a:latin typeface="JetBrains Mono"/>
              </a:rPr>
              <a:t>Subdomain tricks, userinfo</a:t>
            </a:r>
          </a:p>
          <a:p>
            <a:pPr algn="l"/>
            <a:r>
              <a:rPr sz="1200">
                <a:solidFill>
                  <a:srgbClr val="9CA3AF"/>
                </a:solidFill>
                <a:latin typeface="JetBrains Mono"/>
              </a:rPr>
              <a:t>confusion, @-splitting,</a:t>
            </a:r>
          </a:p>
          <a:p>
            <a:pPr algn="l"/>
            <a:r>
              <a:rPr sz="1200">
                <a:solidFill>
                  <a:srgbClr val="9CA3AF"/>
                </a:solidFill>
                <a:latin typeface="JetBrains Mono"/>
              </a:rPr>
              <a:t>port-based bypasses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840480"/>
            <a:ext cx="3429000" cy="1828800"/>
          </a:xfrm>
          <a:prstGeom prst="roundRect">
            <a:avLst/>
          </a:prstGeom>
          <a:solidFill>
            <a:srgbClr val="1B1F27"/>
          </a:solidFill>
          <a:ln w="9525">
            <a:solidFill>
              <a:srgbClr val="303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4023360"/>
            <a:ext cx="2971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>
                <a:solidFill>
                  <a:srgbClr val="F4A81E"/>
                </a:solidFill>
                <a:latin typeface="JetBrains Mono"/>
              </a:rPr>
              <a:t>Fake relative URLs</a:t>
            </a:r>
          </a:p>
          <a:p>
            <a:pPr algn="l"/>
            <a:r>
              <a:rPr sz="1200">
                <a:solidFill>
                  <a:srgbClr val="4ADE80"/>
                </a:solidFill>
                <a:latin typeface="JetBrains Mono"/>
              </a:rPr>
              <a:t>73 payloads</a:t>
            </a:r>
          </a:p>
          <a:p>
            <a:pPr algn="l"/>
            <a:r>
              <a:rPr sz="1200">
                <a:solidFill>
                  <a:srgbClr val="CBE7FF"/>
                </a:solidFill>
                <a:latin typeface="JetBrains Mono"/>
              </a:rPr>
              <a:t/>
            </a:r>
          </a:p>
          <a:p>
            <a:pPr algn="l"/>
            <a:r>
              <a:rPr sz="1200">
                <a:solidFill>
                  <a:srgbClr val="9CA3AF"/>
                </a:solidFill>
                <a:latin typeface="JetBrains Mono"/>
              </a:rPr>
              <a:t>Tab/newline inside host,</a:t>
            </a:r>
          </a:p>
          <a:p>
            <a:pPr algn="l"/>
            <a:r>
              <a:rPr sz="1200">
                <a:solidFill>
                  <a:srgbClr val="9CA3AF"/>
                </a:solidFill>
                <a:latin typeface="JetBrains Mono"/>
              </a:rPr>
              <a:t>scheme-relative //, backslash</a:t>
            </a:r>
          </a:p>
          <a:p>
            <a:pPr algn="l"/>
            <a:r>
              <a:rPr sz="1200">
                <a:solidFill>
                  <a:srgbClr val="9CA3AF"/>
                </a:solidFill>
                <a:latin typeface="JetBrains Mono"/>
              </a:rPr>
              <a:t>as slash, protocol-relative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3840480"/>
            <a:ext cx="3429000" cy="1828800"/>
          </a:xfrm>
          <a:prstGeom prst="roundRect">
            <a:avLst/>
          </a:prstGeom>
          <a:solidFill>
            <a:srgbClr val="1B1F27"/>
          </a:solidFill>
          <a:ln w="9525">
            <a:solidFill>
              <a:srgbClr val="303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4023360"/>
            <a:ext cx="2971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>
                <a:solidFill>
                  <a:srgbClr val="F4A81E"/>
                </a:solidFill>
                <a:latin typeface="JetBrains Mono"/>
              </a:rPr>
              <a:t>Loopback</a:t>
            </a:r>
          </a:p>
          <a:p>
            <a:pPr algn="l"/>
            <a:r>
              <a:rPr sz="1200">
                <a:solidFill>
                  <a:srgbClr val="4ADE80"/>
                </a:solidFill>
                <a:latin typeface="JetBrains Mono"/>
              </a:rPr>
              <a:t>68 payloads</a:t>
            </a:r>
          </a:p>
          <a:p>
            <a:pPr algn="l"/>
            <a:r>
              <a:rPr sz="1200">
                <a:solidFill>
                  <a:srgbClr val="CBE7FF"/>
                </a:solidFill>
                <a:latin typeface="JetBrains Mono"/>
              </a:rPr>
              <a:t/>
            </a:r>
          </a:p>
          <a:p>
            <a:pPr algn="l"/>
            <a:r>
              <a:rPr sz="1200">
                <a:solidFill>
                  <a:srgbClr val="9CA3AF"/>
                </a:solidFill>
                <a:latin typeface="JetBrains Mono"/>
              </a:rPr>
              <a:t>127.0.0.1 in 20+ forms:</a:t>
            </a:r>
          </a:p>
          <a:p>
            <a:pPr algn="l"/>
            <a:r>
              <a:rPr sz="1200">
                <a:solidFill>
                  <a:srgbClr val="9CA3AF"/>
                </a:solidFill>
                <a:latin typeface="JetBrains Mono"/>
              </a:rPr>
              <a:t>hex, octal, decimal, IPv6,</a:t>
            </a:r>
          </a:p>
          <a:p>
            <a:pPr algn="l"/>
            <a:r>
              <a:rPr sz="1200">
                <a:solidFill>
                  <a:srgbClr val="9CA3AF"/>
                </a:solidFill>
                <a:latin typeface="JetBrains Mono"/>
              </a:rPr>
              <a:t>[::ffff:7f00:1], 0x7f000001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06440"/>
            <a:ext cx="10789920" cy="32004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100" b="0">
                <a:solidFill>
                  <a:srgbClr val="9CA3AF"/>
                </a:solidFill>
                <a:latin typeface="Inter"/>
              </a:rPr>
              <a:t>IPv6 (3) — zone-ID attacks   +   Cloud metadata (17) — 169.254.169.254 in IPv6/hex/decimal   +   URL-splitting Unicode (51) — chars that break parsers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172200"/>
            <a:ext cx="10789920" cy="32004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100" b="0">
                <a:solidFill>
                  <a:srgbClr val="9CA3AF"/>
                </a:solidFill>
                <a:latin typeface="Inter"/>
              </a:rPr>
              <a:t>We keep in sync with upstream via scripts/sync-url-cheatsheet.py. New community PRs land automatically.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6263640"/>
            <a:ext cx="365760" cy="36576"/>
          </a:xfrm>
          <a:prstGeom prst="rect">
            <a:avLst/>
          </a:prstGeom>
          <a:solidFill>
            <a:srgbClr val="F4A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789920" cy="64008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3600" b="1">
                <a:solidFill>
                  <a:srgbClr val="E5E7EB"/>
                </a:solidFill>
                <a:latin typeface="Inter"/>
              </a:rPr>
              <a:t>IDOR / BOLA tab.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43000"/>
            <a:ext cx="10789920" cy="45720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600" b="0">
                <a:solidFill>
                  <a:srgbClr val="9CA3AF"/>
                </a:solidFill>
                <a:latin typeface="Inter"/>
              </a:rPr>
              <a:t>Third bug class. Tests object-level authorization — "can I access someone else's data by changing the identifier?"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74519"/>
            <a:ext cx="10789920" cy="36576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500" b="1">
                <a:solidFill>
                  <a:srgbClr val="F4A81E"/>
                </a:solidFill>
                <a:latin typeface="Inter"/>
              </a:rPr>
              <a:t>How it works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40280"/>
            <a:ext cx="10789920" cy="1645920"/>
          </a:xfrm>
          <a:prstGeom prst="roundRect">
            <a:avLst/>
          </a:prstGeom>
          <a:solidFill>
            <a:srgbClr val="1B1F27"/>
          </a:solidFill>
          <a:ln w="9525">
            <a:solidFill>
              <a:srgbClr val="303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10332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>
                <a:solidFill>
                  <a:srgbClr val="E5E7EB"/>
                </a:solidFill>
                <a:latin typeface="JetBrains Mono"/>
              </a:rPr>
              <a:t>1. You provide two identifiers: one you own, one you don't.</a:t>
            </a:r>
          </a:p>
          <a:p>
            <a:pPr algn="l"/>
            <a:r>
              <a:rPr sz="1400">
                <a:solidFill>
                  <a:srgbClr val="E5E7EB"/>
                </a:solidFill>
                <a:latin typeface="JetBrains Mono"/>
              </a:rPr>
              <a:t>2. Tool sends YOUR id as the control — shows the "normal" response.</a:t>
            </a:r>
          </a:p>
          <a:p>
            <a:pPr algn="l"/>
            <a:r>
              <a:rPr sz="1400">
                <a:solidFill>
                  <a:srgbClr val="E5E7EB"/>
                </a:solidFill>
                <a:latin typeface="JetBrains Mono"/>
              </a:rPr>
              <a:t>3. Tool swaps in the TARGET id — whatever it returns is your baseline.</a:t>
            </a:r>
          </a:p>
          <a:p>
            <a:pPr algn="l"/>
            <a:r>
              <a:rPr sz="1400">
                <a:solidFill>
                  <a:srgbClr val="E5E7EB"/>
                </a:solidFill>
                <a:latin typeface="JetBrains Mono"/>
              </a:rPr>
              <a:t>4. Tool runs 29 playbooks mutating around the target id.</a:t>
            </a:r>
          </a:p>
          <a:p>
            <a:pPr algn="l"/>
            <a:r>
              <a:rPr sz="1400">
                <a:solidFill>
                  <a:srgbClr val="E5E7EB"/>
                </a:solidFill>
                <a:latin typeface="JetBrains Mono"/>
              </a:rPr>
              <a:t>5. You scan the results for any response that differs from baseline.</a:t>
            </a:r>
          </a:p>
          <a:p>
            <a:pPr algn="l"/>
            <a:r>
              <a:rPr sz="1400">
                <a:solidFill>
                  <a:srgbClr val="F4A81E"/>
                </a:solidFill>
                <a:latin typeface="JetBrains Mono"/>
              </a:rPr>
              <a:t>   The tool generates + fires. You are the comparator.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069080"/>
            <a:ext cx="10789920" cy="36576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500" b="1">
                <a:solidFill>
                  <a:srgbClr val="F4A81E"/>
                </a:solidFill>
                <a:latin typeface="Inter"/>
              </a:rPr>
              <a:t>29 playbooks across 5 namespaces: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434840"/>
            <a:ext cx="2103120" cy="1691640"/>
          </a:xfrm>
          <a:prstGeom prst="roundRect">
            <a:avLst/>
          </a:prstGeom>
          <a:solidFill>
            <a:srgbClr val="1B1F27"/>
          </a:solidFill>
          <a:ln w="9525">
            <a:solidFill>
              <a:srgbClr val="303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617720"/>
            <a:ext cx="16459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>
                <a:solidFill>
                  <a:srgbClr val="F4A81E"/>
                </a:solidFill>
                <a:latin typeface="JetBrains Mono"/>
              </a:rPr>
              <a:t>idor.path.*</a:t>
            </a:r>
          </a:p>
          <a:p>
            <a:pPr algn="l"/>
            <a:r>
              <a:rPr sz="1100">
                <a:solidFill>
                  <a:srgbClr val="4ADE80"/>
                </a:solidFill>
                <a:latin typeface="JetBrains Mono"/>
              </a:rPr>
              <a:t>4 playbooks</a:t>
            </a:r>
          </a:p>
          <a:p>
            <a:pPr algn="l"/>
            <a:r>
              <a:rPr sz="1100">
                <a:solidFill>
                  <a:srgbClr val="CBE7FF"/>
                </a:solidFill>
                <a:latin typeface="JetBrains Mono"/>
              </a:rPr>
              <a:t/>
            </a:r>
          </a:p>
          <a:p>
            <a:pPr algn="l"/>
            <a:r>
              <a:rPr sz="1100">
                <a:solidFill>
                  <a:srgbClr val="9CA3AF"/>
                </a:solidFill>
                <a:latin typeface="JetBrains Mono"/>
              </a:rPr>
              <a:t>Suffix formats</a:t>
            </a:r>
          </a:p>
          <a:p>
            <a:pPr algn="l"/>
            <a:r>
              <a:rPr sz="1100">
                <a:solidFill>
                  <a:srgbClr val="9CA3AF"/>
                </a:solidFill>
                <a:latin typeface="JetBrains Mono"/>
              </a:rPr>
              <a:t>Trailing slash</a:t>
            </a:r>
          </a:p>
          <a:p>
            <a:pPr algn="l"/>
            <a:r>
              <a:rPr sz="1100">
                <a:solidFill>
                  <a:srgbClr val="9CA3AF"/>
                </a:solidFill>
                <a:latin typeface="JetBrains Mono"/>
              </a:rPr>
              <a:t>Special ID values</a:t>
            </a:r>
          </a:p>
          <a:p>
            <a:pPr algn="l"/>
            <a:r>
              <a:rPr sz="1100">
                <a:solidFill>
                  <a:srgbClr val="9CA3AF"/>
                </a:solidFill>
                <a:latin typeface="JetBrains Mono"/>
              </a:rPr>
              <a:t>Dot-segment traversal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26080" y="4434840"/>
            <a:ext cx="2103120" cy="1691640"/>
          </a:xfrm>
          <a:prstGeom prst="roundRect">
            <a:avLst/>
          </a:prstGeom>
          <a:solidFill>
            <a:srgbClr val="1B1F27"/>
          </a:solidFill>
          <a:ln w="9525">
            <a:solidFill>
              <a:srgbClr val="303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54680" y="4617720"/>
            <a:ext cx="16459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>
                <a:solidFill>
                  <a:srgbClr val="F4A81E"/>
                </a:solidFill>
                <a:latin typeface="JetBrains Mono"/>
              </a:rPr>
              <a:t>idor.query.*</a:t>
            </a:r>
          </a:p>
          <a:p>
            <a:pPr algn="l"/>
            <a:r>
              <a:rPr sz="1100">
                <a:solidFill>
                  <a:srgbClr val="4ADE80"/>
                </a:solidFill>
                <a:latin typeface="JetBrains Mono"/>
              </a:rPr>
              <a:t>5 playbooks</a:t>
            </a:r>
          </a:p>
          <a:p>
            <a:pPr algn="l"/>
            <a:r>
              <a:rPr sz="1100">
                <a:solidFill>
                  <a:srgbClr val="CBE7FF"/>
                </a:solidFill>
                <a:latin typeface="JetBrains Mono"/>
              </a:rPr>
              <a:t/>
            </a:r>
          </a:p>
          <a:p>
            <a:pPr algn="l"/>
            <a:r>
              <a:rPr sz="1100">
                <a:solidFill>
                  <a:srgbClr val="9CA3AF"/>
                </a:solidFill>
                <a:latin typeface="JetBrains Mono"/>
              </a:rPr>
              <a:t>Conflicting identifiers</a:t>
            </a:r>
          </a:p>
          <a:p>
            <a:pPr algn="l"/>
            <a:r>
              <a:rPr sz="1100">
                <a:solidFill>
                  <a:srgbClr val="9CA3AF"/>
                </a:solidFill>
                <a:latin typeface="JetBrains Mono"/>
              </a:rPr>
              <a:t>Parameter pollution</a:t>
            </a:r>
          </a:p>
          <a:p>
            <a:pPr algn="l"/>
            <a:r>
              <a:rPr sz="1100">
                <a:solidFill>
                  <a:srgbClr val="9CA3AF"/>
                </a:solidFill>
                <a:latin typeface="JetBrains Mono"/>
              </a:rPr>
              <a:t>JSON wrap / aliases</a:t>
            </a:r>
          </a:p>
          <a:p>
            <a:pPr algn="l"/>
            <a:r>
              <a:rPr sz="1100">
                <a:solidFill>
                  <a:srgbClr val="9CA3AF"/>
                </a:solidFill>
                <a:latin typeface="JetBrains Mono"/>
              </a:rPr>
              <a:t>Numeric pivots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66360" y="4434840"/>
            <a:ext cx="2103120" cy="1691640"/>
          </a:xfrm>
          <a:prstGeom prst="roundRect">
            <a:avLst/>
          </a:prstGeom>
          <a:solidFill>
            <a:srgbClr val="1B1F27"/>
          </a:solidFill>
          <a:ln w="9525">
            <a:solidFill>
              <a:srgbClr val="303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0" y="4617720"/>
            <a:ext cx="16459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>
                <a:solidFill>
                  <a:srgbClr val="F4A81E"/>
                </a:solidFill>
                <a:latin typeface="JetBrains Mono"/>
              </a:rPr>
              <a:t>idor.body.*</a:t>
            </a:r>
          </a:p>
          <a:p>
            <a:pPr algn="l"/>
            <a:r>
              <a:rPr sz="1100">
                <a:solidFill>
                  <a:srgbClr val="4ADE80"/>
                </a:solidFill>
                <a:latin typeface="JetBrains Mono"/>
              </a:rPr>
              <a:t>6 playbooks</a:t>
            </a:r>
          </a:p>
          <a:p>
            <a:pPr algn="l"/>
            <a:r>
              <a:rPr sz="1100">
                <a:solidFill>
                  <a:srgbClr val="CBE7FF"/>
                </a:solidFill>
                <a:latin typeface="JetBrains Mono"/>
              </a:rPr>
              <a:t/>
            </a:r>
          </a:p>
          <a:p>
            <a:pPr algn="l"/>
            <a:r>
              <a:rPr sz="1100">
                <a:solidFill>
                  <a:srgbClr val="9CA3AF"/>
                </a:solidFill>
                <a:latin typeface="JetBrains Mono"/>
              </a:rPr>
              <a:t>Content-type tampering</a:t>
            </a:r>
          </a:p>
          <a:p>
            <a:pPr algn="l"/>
            <a:r>
              <a:rPr sz="1100">
                <a:solidFill>
                  <a:srgbClr val="9CA3AF"/>
                </a:solidFill>
                <a:latin typeface="JetBrains Mono"/>
              </a:rPr>
              <a:t>JSON batch / wrap / dupes</a:t>
            </a:r>
          </a:p>
          <a:p>
            <a:pPr algn="l"/>
            <a:r>
              <a:rPr sz="1100">
                <a:solidFill>
                  <a:srgbClr val="9CA3AF"/>
                </a:solidFill>
                <a:latin typeface="JetBrains Mono"/>
              </a:rPr>
              <a:t>Wildcards</a:t>
            </a:r>
          </a:p>
          <a:p>
            <a:pPr algn="l"/>
            <a:r>
              <a:rPr sz="1100">
                <a:solidFill>
                  <a:srgbClr val="9CA3AF"/>
                </a:solidFill>
                <a:latin typeface="JetBrains Mono"/>
              </a:rPr>
              <a:t>Unexpected data types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4434840"/>
            <a:ext cx="2103120" cy="1691640"/>
          </a:xfrm>
          <a:prstGeom prst="roundRect">
            <a:avLst/>
          </a:prstGeom>
          <a:solidFill>
            <a:srgbClr val="1B1F27"/>
          </a:solidFill>
          <a:ln w="9525">
            <a:solidFill>
              <a:srgbClr val="303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35240" y="4617720"/>
            <a:ext cx="16459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>
                <a:solidFill>
                  <a:srgbClr val="F4A81E"/>
                </a:solidFill>
                <a:latin typeface="JetBrains Mono"/>
              </a:rPr>
              <a:t>idor.hybrid.*</a:t>
            </a:r>
          </a:p>
          <a:p>
            <a:pPr algn="l"/>
            <a:r>
              <a:rPr sz="1100">
                <a:solidFill>
                  <a:srgbClr val="4ADE80"/>
                </a:solidFill>
                <a:latin typeface="JetBrains Mono"/>
              </a:rPr>
              <a:t>10 playbooks</a:t>
            </a:r>
          </a:p>
          <a:p>
            <a:pPr algn="l"/>
            <a:r>
              <a:rPr sz="1100">
                <a:solidFill>
                  <a:srgbClr val="CBE7FF"/>
                </a:solidFill>
                <a:latin typeface="JetBrains Mono"/>
              </a:rPr>
              <a:t/>
            </a:r>
          </a:p>
          <a:p>
            <a:pPr algn="l"/>
            <a:r>
              <a:rPr sz="1100">
                <a:solidFill>
                  <a:srgbClr val="9CA3AF"/>
                </a:solidFill>
                <a:latin typeface="JetBrains Mono"/>
              </a:rPr>
              <a:t>Cross-source conflicts</a:t>
            </a:r>
          </a:p>
          <a:p>
            <a:pPr algn="l"/>
            <a:r>
              <a:rPr sz="1100">
                <a:solidFill>
                  <a:srgbClr val="9CA3AF"/>
                </a:solidFill>
                <a:latin typeface="JetBrains Mono"/>
              </a:rPr>
              <a:t>Case / encoding variants</a:t>
            </a:r>
          </a:p>
          <a:p>
            <a:pPr algn="l"/>
            <a:r>
              <a:rPr sz="1100">
                <a:solidFill>
                  <a:srgbClr val="9CA3AF"/>
                </a:solidFill>
                <a:latin typeface="JetBrains Mono"/>
              </a:rPr>
              <a:t>UUID neighbor edits</a:t>
            </a:r>
          </a:p>
          <a:p>
            <a:pPr algn="l"/>
            <a:r>
              <a:rPr sz="1100">
                <a:solidFill>
                  <a:srgbClr val="9CA3AF"/>
                </a:solidFill>
                <a:latin typeface="JetBrains Mono"/>
              </a:rPr>
              <a:t>Method override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46920" y="4434840"/>
            <a:ext cx="2103120" cy="36576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100" b="0">
                <a:solidFill>
                  <a:srgbClr val="9CA3AF"/>
                </a:solidFill>
                <a:latin typeface="Inter"/>
              </a:rPr>
              <a:t>+ 4 more in idor.header.*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200" b="1">
                <a:solidFill>
                  <a:srgbClr val="9CA3AF"/>
                </a:solidFill>
                <a:latin typeface="Inter"/>
              </a:rPr>
              <a:t>Context-aware: if the identifier lives in the path, path playbooks fire. If it's in a JSON body, body playbooks fire. Same for query string.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263640"/>
            <a:ext cx="365760" cy="36576"/>
          </a:xfrm>
          <a:prstGeom prst="rect">
            <a:avLst/>
          </a:prstGeom>
          <a:solidFill>
            <a:srgbClr val="F4A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